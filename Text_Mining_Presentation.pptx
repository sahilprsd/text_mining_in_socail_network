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308" r:id="rId6"/>
    <p:sldId id="304" r:id="rId7"/>
    <p:sldId id="305" r:id="rId8"/>
    <p:sldId id="321" r:id="rId9"/>
    <p:sldId id="307" r:id="rId10"/>
    <p:sldId id="306" r:id="rId11"/>
    <p:sldId id="309" r:id="rId12"/>
    <p:sldId id="310" r:id="rId13"/>
    <p:sldId id="311" r:id="rId14"/>
    <p:sldId id="312" r:id="rId15"/>
    <p:sldId id="318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Mulish" panose="020B0604020202020204" charset="0"/>
      <p:regular r:id="rId19"/>
      <p:bold r:id="rId20"/>
      <p:italic r:id="rId21"/>
      <p:boldItalic r:id="rId22"/>
    </p:embeddedFont>
    <p:embeddedFont>
      <p:font typeface="Quicksan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34DCC4-C054-4C05-A46B-4C6867464BEE}">
  <a:tblStyle styleId="{3C34DCC4-C054-4C05-A46B-4C6867464B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F83DDEF-1C85-1157-D5AC-881BD791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8A5A5F9C-0780-2423-2EDA-8192792C0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5A07796E-0609-FEA0-EBF7-89EDFAC69F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3862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0CCD39A-82D8-AF5A-67E4-02994BA2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7E6D9C17-1008-9C3A-C392-950AB420A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ECFA9075-9BB3-91F0-A57D-847F2AAF3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017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20F98B5B-FB38-7CD4-5902-49A0F1C6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DF284EDE-0492-177F-2291-6A81D96E5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9F02FB53-D8C3-1534-7FCE-0287373E4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146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B9522A96-98E4-CA97-DD0F-909DB24E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F87A0C03-C4A6-A1C6-52AC-9C4602BA6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1393E21D-C8CB-E4FF-6156-CED6E7816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7591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E412F2AF-5EB8-A18F-A4BC-503E7A75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E2ABFD67-9087-58C4-C82B-83B959538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30518270-A45E-53FF-F794-1C3D19F1E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523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DA982138-D0D6-D8BF-0748-07E99B07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C273BA4A-3834-94CB-9AD3-1139936D3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361256AA-058C-9962-624C-DB17E3268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82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5BFDA4EC-47F2-F565-DCB5-A865A853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8DBEAE5D-3D2C-29E9-C768-151FD0C0A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9F73B9F8-B513-B8E9-1BD9-50F48E190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318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25C32DAC-F743-ED8D-F971-B637D587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407545DF-B5B9-1BF0-5FB4-FD7C34CF5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98C7F039-11D3-CC09-0D19-37A50C924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30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43EF8A5E-4C53-4703-1AE1-C51ED0A3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9C061E77-6209-1A83-CDF4-337B40B32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BF7BE666-A994-D923-CE57-57DD578DA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288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4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822158" y="1244398"/>
            <a:ext cx="7499684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 dirty="0"/>
              <a:t>Text Mining</a:t>
            </a:r>
            <a:br>
              <a:rPr lang="en" sz="6700" dirty="0"/>
            </a:br>
            <a:r>
              <a:rPr lang="en" sz="6700" dirty="0"/>
              <a:t>in Social Networks </a:t>
            </a:r>
            <a:endParaRPr sz="59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393298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Prasad Sahil(205124069)</a:t>
            </a: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36441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16818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1949582" y="1685048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7090543" y="1685048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10" name="Google Shape;310;p31"/>
          <p:cNvSpPr txBox="1">
            <a:spLocks noGrp="1"/>
          </p:cNvSpPr>
          <p:nvPr>
            <p:ph type="title" idx="5"/>
          </p:nvPr>
        </p:nvSpPr>
        <p:spPr>
          <a:xfrm>
            <a:off x="713225" y="1141288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6"/>
          </p:nvPr>
        </p:nvSpPr>
        <p:spPr>
          <a:xfrm>
            <a:off x="3359125" y="2809571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 idx="7"/>
          </p:nvPr>
        </p:nvSpPr>
        <p:spPr>
          <a:xfrm>
            <a:off x="713225" y="2809571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8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title" idx="14"/>
          </p:nvPr>
        </p:nvSpPr>
        <p:spPr>
          <a:xfrm>
            <a:off x="5997638" y="2809571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7" name="Google Shape;317;p31"/>
          <p:cNvSpPr txBox="1">
            <a:spLocks noGrp="1"/>
          </p:cNvSpPr>
          <p:nvPr>
            <p:ph type="title" idx="15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8" name="Google Shape;318;p31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7555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this matters?</a:t>
            </a:r>
            <a:endParaRPr dirty="0"/>
          </a:p>
        </p:txBody>
      </p:sp>
      <p:sp>
        <p:nvSpPr>
          <p:cNvPr id="319" name="Google Shape;319;p31"/>
          <p:cNvSpPr txBox="1">
            <a:spLocks noGrp="1"/>
          </p:cNvSpPr>
          <p:nvPr>
            <p:ph type="subTitle" idx="17"/>
          </p:nvPr>
        </p:nvSpPr>
        <p:spPr>
          <a:xfrm>
            <a:off x="713225" y="3248471"/>
            <a:ext cx="2423100" cy="7537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Demonstration</a:t>
            </a:r>
            <a:endParaRPr dirty="0"/>
          </a:p>
        </p:txBody>
      </p:sp>
      <p:sp>
        <p:nvSpPr>
          <p:cNvPr id="320" name="Google Shape;320;p31"/>
          <p:cNvSpPr txBox="1">
            <a:spLocks noGrp="1"/>
          </p:cNvSpPr>
          <p:nvPr>
            <p:ph type="subTitle" idx="18"/>
          </p:nvPr>
        </p:nvSpPr>
        <p:spPr>
          <a:xfrm>
            <a:off x="3359125" y="3248471"/>
            <a:ext cx="2423100" cy="7529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Real World Applications</a:t>
            </a:r>
            <a:endParaRPr dirty="0"/>
          </a:p>
        </p:txBody>
      </p:sp>
      <p:sp>
        <p:nvSpPr>
          <p:cNvPr id="321" name="Google Shape;321;p31"/>
          <p:cNvSpPr txBox="1">
            <a:spLocks noGrp="1"/>
          </p:cNvSpPr>
          <p:nvPr>
            <p:ph type="subTitle" idx="19"/>
          </p:nvPr>
        </p:nvSpPr>
        <p:spPr>
          <a:xfrm>
            <a:off x="3359125" y="1594574"/>
            <a:ext cx="2423100" cy="7555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Text Mining?</a:t>
            </a:r>
            <a:endParaRPr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subTitle" idx="20"/>
          </p:nvPr>
        </p:nvSpPr>
        <p:spPr>
          <a:xfrm>
            <a:off x="5997638" y="3248470"/>
            <a:ext cx="2423100" cy="7529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</a:t>
            </a:r>
            <a:endParaRPr dirty="0"/>
          </a:p>
        </p:txBody>
      </p:sp>
      <p:sp>
        <p:nvSpPr>
          <p:cNvPr id="323" name="Google Shape;323;p31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7555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it Works?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2310060" y="1854500"/>
            <a:ext cx="5610726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this matters</a:t>
            </a:r>
            <a:endParaRPr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020776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cxnSp>
        <p:nvCxnSpPr>
          <p:cNvPr id="333" name="Google Shape;333;p32"/>
          <p:cNvCxnSpPr>
            <a:cxnSpLocks/>
          </p:cNvCxnSpPr>
          <p:nvPr/>
        </p:nvCxnSpPr>
        <p:spPr>
          <a:xfrm>
            <a:off x="1191126" y="2867526"/>
            <a:ext cx="681388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>
            <a:cxnSpLocks/>
          </p:cNvCxnSpPr>
          <p:nvPr/>
        </p:nvCxnSpPr>
        <p:spPr>
          <a:xfrm>
            <a:off x="1191126" y="1714341"/>
            <a:ext cx="6813885" cy="66333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2101778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878077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Social Media Data Explosion</a:t>
            </a:r>
            <a:endParaRPr dirty="0"/>
          </a:p>
        </p:txBody>
      </p:sp>
      <p:sp>
        <p:nvSpPr>
          <p:cNvPr id="342" name="Google Shape;342;p33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1697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500,000</a:t>
            </a:r>
            <a:r>
              <a:rPr lang="en-US" sz="1800" dirty="0"/>
              <a:t> tweets posted on X/Twitter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5.7 million </a:t>
            </a:r>
            <a:r>
              <a:rPr lang="en-US" sz="1800" dirty="0"/>
              <a:t>Google searches conducted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2.1 million </a:t>
            </a:r>
            <a:r>
              <a:rPr lang="en-US" sz="1800" dirty="0"/>
              <a:t>Snapchat snaps created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69 million </a:t>
            </a:r>
            <a:r>
              <a:rPr lang="en-US" sz="1800" dirty="0"/>
              <a:t>WhatsApp messages 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2.4 million </a:t>
            </a:r>
            <a:r>
              <a:rPr lang="en-US" sz="1800" dirty="0"/>
              <a:t>Facebook posts published</a:t>
            </a:r>
          </a:p>
        </p:txBody>
      </p:sp>
      <p:sp>
        <p:nvSpPr>
          <p:cNvPr id="345" name="Google Shape;345;p33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Every minute online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3D3D97-B163-EDF5-A214-B194C67D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1DB1A4B8-4B06-8CAF-B8D9-852B053D9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0060" y="1854500"/>
            <a:ext cx="5610726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What is Text Mining?</a:t>
            </a:r>
            <a:endParaRPr sz="4000"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B29B90BB-A082-69F1-4739-EBFB49056F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20776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53209710-AFA6-2905-104B-D515262F6A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DFDEF635-B029-03A5-2500-2C638691F7F0}"/>
              </a:ext>
            </a:extLst>
          </p:cNvPr>
          <p:cNvCxnSpPr>
            <a:cxnSpLocks/>
          </p:cNvCxnSpPr>
          <p:nvPr/>
        </p:nvCxnSpPr>
        <p:spPr>
          <a:xfrm>
            <a:off x="1191126" y="2867526"/>
            <a:ext cx="681388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CC2F5AB4-0A90-77FD-6AA5-A023DBC810D3}"/>
              </a:ext>
            </a:extLst>
          </p:cNvPr>
          <p:cNvCxnSpPr>
            <a:cxnSpLocks/>
          </p:cNvCxnSpPr>
          <p:nvPr/>
        </p:nvCxnSpPr>
        <p:spPr>
          <a:xfrm>
            <a:off x="1191126" y="1714341"/>
            <a:ext cx="6813885" cy="66333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33737C63-C730-570D-B0C9-B2BE17879DE1}"/>
              </a:ext>
            </a:extLst>
          </p:cNvPr>
          <p:cNvSpPr/>
          <p:nvPr/>
        </p:nvSpPr>
        <p:spPr>
          <a:xfrm>
            <a:off x="2101778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DA8C6DAD-7B68-8B22-92DC-3ADA1C335041}"/>
              </a:ext>
            </a:extLst>
          </p:cNvPr>
          <p:cNvSpPr/>
          <p:nvPr/>
        </p:nvSpPr>
        <p:spPr>
          <a:xfrm>
            <a:off x="7878077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59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63E1F7F-4039-9C56-C54B-98C4BB8F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F0B7B20B-9DAA-453C-5733-B153C1D8E8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1697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sz="3200" dirty="0"/>
              <a:t>"</a:t>
            </a:r>
            <a:r>
              <a:rPr lang="en-US" sz="3200" dirty="0">
                <a:solidFill>
                  <a:srgbClr val="C00000"/>
                </a:solidFill>
              </a:rPr>
              <a:t>Deriving</a:t>
            </a:r>
            <a:r>
              <a:rPr lang="en-US" sz="3200" dirty="0"/>
              <a:t> high-quality </a:t>
            </a:r>
            <a:r>
              <a:rPr lang="en-US" sz="3200" dirty="0">
                <a:solidFill>
                  <a:srgbClr val="C00000"/>
                </a:solidFill>
              </a:rPr>
              <a:t>INFORMATION</a:t>
            </a:r>
            <a:r>
              <a:rPr lang="en-US" sz="3200" dirty="0"/>
              <a:t> from unstructured TEXT"</a:t>
            </a:r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FE248A5C-239C-BE6E-977B-CC9A1C4550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98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98FAC05-CB55-D6C5-E13A-2A3D114C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889A9EB6-F3CA-08AF-1467-AC37B5AEA9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Why Social Networks are Perfect for Mining</a:t>
            </a:r>
            <a:endParaRPr dirty="0"/>
          </a:p>
        </p:txBody>
      </p:sp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36409102-8943-781F-B8FE-29560D4B35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2140338"/>
            <a:ext cx="7704000" cy="1697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0"/>
            <a:r>
              <a:rPr lang="en-US" sz="1600" dirty="0"/>
              <a:t>•   </a:t>
            </a:r>
            <a:r>
              <a:rPr lang="en-US" sz="1600" b="1" dirty="0"/>
              <a:t>Volume</a:t>
            </a:r>
            <a:r>
              <a:rPr lang="en-US" sz="1600" dirty="0"/>
              <a:t> - Massive scale (billions of posts daily)</a:t>
            </a:r>
          </a:p>
          <a:p>
            <a:pPr marL="457200" lvl="1" indent="0"/>
            <a:r>
              <a:rPr lang="en-US" sz="1600" dirty="0"/>
              <a:t>•   </a:t>
            </a:r>
            <a:r>
              <a:rPr lang="en-US" sz="1600" b="1" dirty="0"/>
              <a:t>Velocity</a:t>
            </a:r>
            <a:r>
              <a:rPr lang="en-US" sz="1600" dirty="0"/>
              <a:t> - Real-time generation</a:t>
            </a:r>
          </a:p>
          <a:p>
            <a:pPr marL="457200" lvl="1" indent="0"/>
            <a:r>
              <a:rPr lang="en-US" sz="1600" dirty="0"/>
              <a:t>•   </a:t>
            </a:r>
            <a:r>
              <a:rPr lang="en-US" sz="1600" b="1" dirty="0"/>
              <a:t>Variety</a:t>
            </a:r>
            <a:r>
              <a:rPr lang="en-US" sz="1600" dirty="0"/>
              <a:t> - Text, emojis, images, videos</a:t>
            </a:r>
          </a:p>
          <a:p>
            <a:pPr marL="457200" lvl="1" indent="0"/>
            <a:r>
              <a:rPr lang="en-US" sz="1600" dirty="0"/>
              <a:t>•   </a:t>
            </a:r>
            <a:r>
              <a:rPr lang="en-US" sz="1600" b="1" dirty="0"/>
              <a:t>Veracity</a:t>
            </a:r>
            <a:r>
              <a:rPr lang="en-US" sz="1600" dirty="0"/>
              <a:t> - Authentic but noisy opinions</a:t>
            </a:r>
          </a:p>
          <a:p>
            <a:pPr marL="457200" lvl="1" indent="0"/>
            <a:r>
              <a:rPr lang="en-US" sz="1600" dirty="0"/>
              <a:t>•   </a:t>
            </a:r>
            <a:r>
              <a:rPr lang="en-US" sz="1600" b="1" dirty="0"/>
              <a:t>Value</a:t>
            </a:r>
            <a:r>
              <a:rPr lang="en-US" sz="1600" dirty="0"/>
              <a:t> - Direct insight into public sentiment</a:t>
            </a:r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0D31415C-BA87-93BD-A755-10E0D8DBE52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25" y="162228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The 5 V's of Social Data:</a:t>
            </a:r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62690F74-7603-C4B4-98DB-108AE67FA5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Google Shape;345;p33">
            <a:extLst>
              <a:ext uri="{FF2B5EF4-FFF2-40B4-BE49-F238E27FC236}">
                <a16:creationId xmlns:a16="http://schemas.microsoft.com/office/drawing/2014/main" id="{3BEDA238-3276-117C-E600-5064E5533A01}"/>
              </a:ext>
            </a:extLst>
          </p:cNvPr>
          <p:cNvSpPr txBox="1">
            <a:spLocks/>
          </p:cNvSpPr>
          <p:nvPr/>
        </p:nvSpPr>
        <p:spPr>
          <a:xfrm>
            <a:off x="720000" y="3711756"/>
            <a:ext cx="7704000" cy="714647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Result: Unprecedented window into human </a:t>
            </a:r>
            <a:r>
              <a:rPr lang="en-IN" dirty="0" err="1"/>
              <a:t>behavior</a:t>
            </a:r>
            <a:r>
              <a:rPr lang="en-IN" dirty="0"/>
              <a:t> and opinions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B1E5D-0D3B-EEB4-A8A8-E140B84B80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790AEA2-4DF1-8A1E-05CF-DC627C623A22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720000" y="715392"/>
            <a:ext cx="7704000" cy="393600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D693F4-332E-DE63-0768-C199C0B7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23" y="1333495"/>
            <a:ext cx="3303146" cy="30941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CDAF6D-7718-5821-0A54-63F07206B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69" y="1333495"/>
            <a:ext cx="3059869" cy="3094122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BF59747E-1DA1-8FB9-EA1C-56CB6BB19215}"/>
              </a:ext>
            </a:extLst>
          </p:cNvPr>
          <p:cNvSpPr/>
          <p:nvPr/>
        </p:nvSpPr>
        <p:spPr>
          <a:xfrm flipH="1">
            <a:off x="4393218" y="2659133"/>
            <a:ext cx="548701" cy="3936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6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2B1D966-509C-7910-D912-024E2642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F75D5BAB-3962-5ED1-C41F-183E883803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0060" y="1854500"/>
            <a:ext cx="5610726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this Works?</a:t>
            </a:r>
            <a:endParaRPr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82E10520-DBC8-ADF8-6A5F-5790531848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20776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E69A3B94-1273-90E4-57E8-74F0BADE7C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AAA6212E-9464-7BA9-9AFB-7022554E9381}"/>
              </a:ext>
            </a:extLst>
          </p:cNvPr>
          <p:cNvCxnSpPr>
            <a:cxnSpLocks/>
          </p:cNvCxnSpPr>
          <p:nvPr/>
        </p:nvCxnSpPr>
        <p:spPr>
          <a:xfrm>
            <a:off x="1191126" y="2867526"/>
            <a:ext cx="681388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61009FA3-6A24-2EAB-CDEB-A72CA56AE950}"/>
              </a:ext>
            </a:extLst>
          </p:cNvPr>
          <p:cNvCxnSpPr>
            <a:cxnSpLocks/>
          </p:cNvCxnSpPr>
          <p:nvPr/>
        </p:nvCxnSpPr>
        <p:spPr>
          <a:xfrm>
            <a:off x="1191126" y="1714341"/>
            <a:ext cx="6813885" cy="66333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8E82155-7F78-BFA0-5085-F36653DFD26C}"/>
              </a:ext>
            </a:extLst>
          </p:cNvPr>
          <p:cNvSpPr/>
          <p:nvPr/>
        </p:nvSpPr>
        <p:spPr>
          <a:xfrm>
            <a:off x="2101778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B789DBC9-DC36-8117-BB32-B025BD8B1930}"/>
              </a:ext>
            </a:extLst>
          </p:cNvPr>
          <p:cNvSpPr/>
          <p:nvPr/>
        </p:nvSpPr>
        <p:spPr>
          <a:xfrm>
            <a:off x="7878077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29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2973C49-9005-8E48-5AA3-03E17BBD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A3A5F221-F646-854E-DC05-18234BB7E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The Text Mining Pipeline</a:t>
            </a:r>
            <a:endParaRPr dirty="0"/>
          </a:p>
        </p:txBody>
      </p:sp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0B7C9076-CF5A-3118-6535-DE06DBEC75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1802289"/>
            <a:ext cx="7704000" cy="203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1" indent="0">
              <a:lnSpc>
                <a:spcPct val="150000"/>
              </a:lnSpc>
            </a:pPr>
            <a:r>
              <a:rPr lang="en-IN" sz="1600" dirty="0"/>
              <a:t>1.  </a:t>
            </a:r>
            <a:r>
              <a:rPr lang="en-IN" sz="1600" b="1" dirty="0"/>
              <a:t>Data Collection </a:t>
            </a:r>
            <a:r>
              <a:rPr lang="en-IN" sz="1600" dirty="0"/>
              <a:t>- Gathering raw social media data</a:t>
            </a:r>
          </a:p>
          <a:p>
            <a:pPr marL="400050" lvl="1" indent="0">
              <a:lnSpc>
                <a:spcPct val="150000"/>
              </a:lnSpc>
            </a:pPr>
            <a:r>
              <a:rPr lang="en-IN" sz="1600" dirty="0"/>
              <a:t>2.  </a:t>
            </a:r>
            <a:r>
              <a:rPr lang="en-IN" sz="1600" b="1" dirty="0"/>
              <a:t>Pre-processing</a:t>
            </a:r>
            <a:r>
              <a:rPr lang="en-IN" sz="1600" dirty="0"/>
              <a:t> - Cleaning and organizing text</a:t>
            </a:r>
          </a:p>
          <a:p>
            <a:pPr marL="400050" lvl="1" indent="0">
              <a:lnSpc>
                <a:spcPct val="150000"/>
              </a:lnSpc>
            </a:pPr>
            <a:r>
              <a:rPr lang="en-IN" sz="1600" dirty="0"/>
              <a:t>3.  </a:t>
            </a:r>
            <a:r>
              <a:rPr lang="en-IN" sz="1600" b="1" dirty="0"/>
              <a:t>Analysis</a:t>
            </a:r>
            <a:r>
              <a:rPr lang="en-IN" sz="1600" dirty="0"/>
              <a:t> - Applying mining algorithms</a:t>
            </a:r>
          </a:p>
          <a:p>
            <a:pPr marL="400050" lvl="1" indent="0">
              <a:lnSpc>
                <a:spcPct val="150000"/>
              </a:lnSpc>
            </a:pPr>
            <a:r>
              <a:rPr lang="en-IN" sz="1600" dirty="0"/>
              <a:t>4.  </a:t>
            </a:r>
            <a:r>
              <a:rPr lang="en-IN" sz="1600" b="1" dirty="0"/>
              <a:t>Visualization</a:t>
            </a:r>
            <a:r>
              <a:rPr lang="en-IN" sz="1600" dirty="0"/>
              <a:t> - Making insights understandable</a:t>
            </a:r>
          </a:p>
          <a:p>
            <a:pPr marL="400050" lvl="1" indent="0">
              <a:lnSpc>
                <a:spcPct val="150000"/>
              </a:lnSpc>
            </a:pPr>
            <a:r>
              <a:rPr lang="en-IN" sz="1600" dirty="0"/>
              <a:t>5.  </a:t>
            </a:r>
            <a:r>
              <a:rPr lang="en-IN" sz="1600" b="1" dirty="0"/>
              <a:t>Interpretation</a:t>
            </a:r>
            <a:r>
              <a:rPr lang="en-IN" sz="1600" dirty="0"/>
              <a:t> - Driving business decisions</a:t>
            </a:r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CDA60FDD-8141-A207-C864-23C1C4D2151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25" y="1213207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dirty="0"/>
              <a:t>Step-by-Step Process:</a:t>
            </a:r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1FB7697-64D5-DA89-7A7E-1F0F7F7EE8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501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CF7181E-5960-FEBE-841A-DA6F1C40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E0E5F7F9-FA7E-F221-B6AA-41F0C05A1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Step 1: Data Collection</a:t>
            </a:r>
            <a:endParaRPr dirty="0"/>
          </a:p>
        </p:txBody>
      </p:sp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6BA91F05-4C7B-60D4-2CFF-C733A0F6EF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1802289"/>
            <a:ext cx="7704000" cy="203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•  Twitter/X API - Public tweets and conversations</a:t>
            </a:r>
          </a:p>
          <a:p>
            <a:r>
              <a:rPr lang="en-IN" dirty="0"/>
              <a:t>•  Reddit API - Forum discussions and communities</a:t>
            </a:r>
          </a:p>
          <a:p>
            <a:r>
              <a:rPr lang="en-IN" dirty="0"/>
              <a:t>•  Facebook/Instagram - Limited but valuable public data</a:t>
            </a:r>
          </a:p>
          <a:p>
            <a:r>
              <a:rPr lang="en-IN" dirty="0"/>
              <a:t>•  Web Scraping - Public forums and comment sections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 Public data only</a:t>
            </a:r>
          </a:p>
          <a:p>
            <a:r>
              <a:rPr lang="en-IN" dirty="0"/>
              <a:t>•  Respect privacy settings</a:t>
            </a:r>
          </a:p>
          <a:p>
            <a:r>
              <a:rPr lang="en-IN" dirty="0"/>
              <a:t>•  Follow platform terms of service</a:t>
            </a:r>
          </a:p>
          <a:p>
            <a:r>
              <a:rPr lang="en-IN" dirty="0"/>
              <a:t>•  Anonymize sensitive information</a:t>
            </a:r>
            <a:endParaRPr lang="en-IN" dirty="0">
              <a:effectLst/>
            </a:endParaRPr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44E9D6AA-6058-26F4-C537-902DAADA5CF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25" y="1213207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dirty="0"/>
              <a:t>Sources &amp; Methods:</a:t>
            </a:r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E9B43472-8FF2-7890-F144-01E04F8468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" name="Google Shape;345;p33">
            <a:extLst>
              <a:ext uri="{FF2B5EF4-FFF2-40B4-BE49-F238E27FC236}">
                <a16:creationId xmlns:a16="http://schemas.microsoft.com/office/drawing/2014/main" id="{7574E7A5-4CDF-D863-B71B-411257CE3B0A}"/>
              </a:ext>
            </a:extLst>
          </p:cNvPr>
          <p:cNvSpPr txBox="1">
            <a:spLocks/>
          </p:cNvSpPr>
          <p:nvPr/>
        </p:nvSpPr>
        <p:spPr>
          <a:xfrm>
            <a:off x="719975" y="3112499"/>
            <a:ext cx="7704000" cy="393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Ethical Considerations:</a:t>
            </a:r>
          </a:p>
        </p:txBody>
      </p:sp>
    </p:spTree>
    <p:extLst>
      <p:ext uri="{BB962C8B-B14F-4D97-AF65-F5344CB8AC3E}">
        <p14:creationId xmlns:p14="http://schemas.microsoft.com/office/powerpoint/2010/main" val="264159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7C02DF1-EE3B-CD6C-4840-1B51C477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35C4F4D1-6013-97D6-A866-6149EF542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Step 2: Data Pre-processing</a:t>
            </a:r>
            <a:endParaRPr dirty="0"/>
          </a:p>
        </p:txBody>
      </p:sp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9739D215-69BA-F5B0-D526-AA948A73C9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1613783"/>
            <a:ext cx="7704000" cy="203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dirty="0"/>
              <a:t>   •  Remove noise - URLs, special characters, punctuation</a:t>
            </a:r>
          </a:p>
          <a:p>
            <a:pPr marL="0" indent="0"/>
            <a:r>
              <a:rPr lang="en-IN" dirty="0"/>
              <a:t>   •  Tokenization - Split text into individual words</a:t>
            </a:r>
          </a:p>
          <a:p>
            <a:pPr marL="0" indent="0"/>
            <a:r>
              <a:rPr lang="en-IN" dirty="0"/>
              <a:t>   •  Stop words removal - Filter out 'the', 'and', 'is’</a:t>
            </a:r>
          </a:p>
          <a:p>
            <a:pPr marL="0" indent="0"/>
            <a:r>
              <a:rPr lang="en-IN" dirty="0"/>
              <a:t>   •  Stemming - 'running' → 'run', 'better' → 'good’</a:t>
            </a:r>
          </a:p>
          <a:p>
            <a:pPr marL="0" indent="0"/>
            <a:r>
              <a:rPr lang="en-IN" dirty="0"/>
              <a:t>   •  Lowercasing - Standardize all text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457200" lvl="1" indent="-57150"/>
            <a:r>
              <a:rPr lang="en-US" dirty="0"/>
              <a:t>Before: 'I LOVE my new iPhone! It's absolutely amazing 😍 https://apple.com'</a:t>
            </a:r>
          </a:p>
          <a:p>
            <a:pPr marL="400050" lvl="1" indent="0"/>
            <a:r>
              <a:rPr lang="en-US" dirty="0"/>
              <a:t>After: 'love new </a:t>
            </a:r>
            <a:r>
              <a:rPr lang="en-US" dirty="0" err="1"/>
              <a:t>iphone</a:t>
            </a:r>
            <a:r>
              <a:rPr lang="en-US" dirty="0"/>
              <a:t> absolutely amazing'</a:t>
            </a:r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156E0E83-3863-9953-F8D5-BE903026686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25" y="1213207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dirty="0"/>
              <a:t>Cleaning Steps:</a:t>
            </a:r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66C9AC5E-E1E8-D50B-155B-732240D8DC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Google Shape;345;p33">
            <a:extLst>
              <a:ext uri="{FF2B5EF4-FFF2-40B4-BE49-F238E27FC236}">
                <a16:creationId xmlns:a16="http://schemas.microsoft.com/office/drawing/2014/main" id="{87BBAD27-5DA3-4125-D7D3-ABB344F875F3}"/>
              </a:ext>
            </a:extLst>
          </p:cNvPr>
          <p:cNvSpPr txBox="1">
            <a:spLocks/>
          </p:cNvSpPr>
          <p:nvPr/>
        </p:nvSpPr>
        <p:spPr>
          <a:xfrm>
            <a:off x="719975" y="3212762"/>
            <a:ext cx="7704000" cy="393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76609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8E0AC86-CD74-F4CA-23BE-AE203D68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CCD2ABEF-D967-294E-77E2-4AFF05547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Step 3: Analysis Techniques</a:t>
            </a:r>
            <a:endParaRPr dirty="0"/>
          </a:p>
        </p:txBody>
      </p:sp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E7E78158-5FA4-C776-C1ED-A7E7121203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1802289"/>
            <a:ext cx="7704000" cy="203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Sentiment Analysis </a:t>
            </a:r>
            <a:r>
              <a:rPr lang="en-IN" dirty="0"/>
              <a:t>- Measure emotion (Positive/Negative/Neutral)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Topic Modelling</a:t>
            </a:r>
            <a:r>
              <a:rPr lang="en-IN" dirty="0"/>
              <a:t> - Find themes ('Technology', 'Politics', 'Sports')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Entity Recognition </a:t>
            </a:r>
            <a:r>
              <a:rPr lang="en-IN" dirty="0"/>
              <a:t>- Identify key terms (People, Organizations, Locations)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Trend Detection </a:t>
            </a:r>
            <a:r>
              <a:rPr lang="en-IN" dirty="0"/>
              <a:t>- Spot patterns (Emerging topics, Viral content)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Network Analysis </a:t>
            </a:r>
            <a:r>
              <a:rPr lang="en-IN" dirty="0"/>
              <a:t>- Map relationships (Influencers, Communities)</a:t>
            </a:r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CD8AE442-685A-C69C-B656-0C355E0F6F8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25" y="1269357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dirty="0"/>
              <a:t>Key Text Mining Methods:</a:t>
            </a:r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63B1BCF8-977A-469A-72E9-7E2334E011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385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8B2BD1E-E800-E2F0-674A-E12E08C6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B9FC8799-0E73-9B36-ED1A-3B077F05F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04. Code Demonstration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CAFD9EBF-AC04-8BBA-D2EE-96EA74761A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8654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7606-92A7-A153-B214-4D3AA0C2C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THANKS</a:t>
            </a:r>
            <a:endParaRPr lang="en-IN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Google Shape;333;p32">
            <a:extLst>
              <a:ext uri="{FF2B5EF4-FFF2-40B4-BE49-F238E27FC236}">
                <a16:creationId xmlns:a16="http://schemas.microsoft.com/office/drawing/2014/main" id="{C3746D7C-6308-C119-B8E2-B64A52EB7954}"/>
              </a:ext>
            </a:extLst>
          </p:cNvPr>
          <p:cNvCxnSpPr>
            <a:cxnSpLocks/>
          </p:cNvCxnSpPr>
          <p:nvPr/>
        </p:nvCxnSpPr>
        <p:spPr>
          <a:xfrm>
            <a:off x="1191126" y="3152276"/>
            <a:ext cx="681388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" name="Google Shape;334;p32">
            <a:extLst>
              <a:ext uri="{FF2B5EF4-FFF2-40B4-BE49-F238E27FC236}">
                <a16:creationId xmlns:a16="http://schemas.microsoft.com/office/drawing/2014/main" id="{CB0ADC83-68F7-E5E5-3B5E-C659DCA394B4}"/>
              </a:ext>
            </a:extLst>
          </p:cNvPr>
          <p:cNvCxnSpPr>
            <a:cxnSpLocks/>
          </p:cNvCxnSpPr>
          <p:nvPr/>
        </p:nvCxnSpPr>
        <p:spPr>
          <a:xfrm>
            <a:off x="1191126" y="1714341"/>
            <a:ext cx="6813885" cy="66333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" name="Google Shape;333;p32">
            <a:extLst>
              <a:ext uri="{FF2B5EF4-FFF2-40B4-BE49-F238E27FC236}">
                <a16:creationId xmlns:a16="http://schemas.microsoft.com/office/drawing/2014/main" id="{CF2BD702-F384-33B2-A3B2-7A9434D6965B}"/>
              </a:ext>
            </a:extLst>
          </p:cNvPr>
          <p:cNvCxnSpPr>
            <a:cxnSpLocks/>
          </p:cNvCxnSpPr>
          <p:nvPr/>
        </p:nvCxnSpPr>
        <p:spPr>
          <a:xfrm>
            <a:off x="288758" y="4852739"/>
            <a:ext cx="8474242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" name="Google Shape;333;p32">
            <a:extLst>
              <a:ext uri="{FF2B5EF4-FFF2-40B4-BE49-F238E27FC236}">
                <a16:creationId xmlns:a16="http://schemas.microsoft.com/office/drawing/2014/main" id="{F9430B48-42FF-7408-4A1A-46DBD7072863}"/>
              </a:ext>
            </a:extLst>
          </p:cNvPr>
          <p:cNvCxnSpPr>
            <a:cxnSpLocks/>
          </p:cNvCxnSpPr>
          <p:nvPr/>
        </p:nvCxnSpPr>
        <p:spPr>
          <a:xfrm>
            <a:off x="334879" y="316834"/>
            <a:ext cx="8474242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087252844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451</Words>
  <Application>Microsoft Office PowerPoint</Application>
  <PresentationFormat>On-screen Show (16:9)</PresentationFormat>
  <Paragraphs>94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Bebas Neue</vt:lpstr>
      <vt:lpstr>Mulish</vt:lpstr>
      <vt:lpstr>Quicksand</vt:lpstr>
      <vt:lpstr>Elegant Bachelor Thesis by Slidesgo</vt:lpstr>
      <vt:lpstr>Text Mining in Social Networks </vt:lpstr>
      <vt:lpstr>Agenda</vt:lpstr>
      <vt:lpstr>Why this matters</vt:lpstr>
      <vt:lpstr>The Social Media Data Explosion</vt:lpstr>
      <vt:lpstr>What is Text Mining?</vt:lpstr>
      <vt:lpstr>PowerPoint Presentation</vt:lpstr>
      <vt:lpstr>Why Social Networks are Perfect for Mining</vt:lpstr>
      <vt:lpstr>PowerPoint Presentation</vt:lpstr>
      <vt:lpstr>How this Works?</vt:lpstr>
      <vt:lpstr>The Text Mining Pipeline</vt:lpstr>
      <vt:lpstr>Step 1: Data Collection</vt:lpstr>
      <vt:lpstr>Step 2: Data Pre-processing</vt:lpstr>
      <vt:lpstr>Step 3: Analysis Techniques</vt:lpstr>
      <vt:lpstr>04. Code Demonstration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Sahil Prasad</dc:creator>
  <cp:lastModifiedBy>Prasad Sahil</cp:lastModifiedBy>
  <cp:revision>26</cp:revision>
  <dcterms:modified xsi:type="dcterms:W3CDTF">2025-10-26T14:00:37Z</dcterms:modified>
</cp:coreProperties>
</file>